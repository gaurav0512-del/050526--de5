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33261B-E7D6-402D-80B2-B90E77D8F5E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1C3709F-9E40-46D4-B6C3-D25C2D5E7ACF}">
      <dgm:prSet phldrT="[Text]"/>
      <dgm:spPr/>
      <dgm:t>
        <a:bodyPr/>
        <a:lstStyle/>
        <a:p>
          <a:r>
            <a:rPr lang="en-GB" dirty="0"/>
            <a:t>Requirements</a:t>
          </a:r>
        </a:p>
      </dgm:t>
    </dgm:pt>
    <dgm:pt modelId="{A9B7DF1D-B1D0-46E0-96C6-1912B7C78F7A}" type="parTrans" cxnId="{3FB902D6-E958-429B-BB02-0A87D8777D6E}">
      <dgm:prSet/>
      <dgm:spPr/>
      <dgm:t>
        <a:bodyPr/>
        <a:lstStyle/>
        <a:p>
          <a:endParaRPr lang="en-GB"/>
        </a:p>
      </dgm:t>
    </dgm:pt>
    <dgm:pt modelId="{29D6E598-F4E9-4B97-AE0E-0506CFCE27FE}" type="sibTrans" cxnId="{3FB902D6-E958-429B-BB02-0A87D8777D6E}">
      <dgm:prSet/>
      <dgm:spPr/>
      <dgm:t>
        <a:bodyPr/>
        <a:lstStyle/>
        <a:p>
          <a:endParaRPr lang="en-GB"/>
        </a:p>
      </dgm:t>
    </dgm:pt>
    <dgm:pt modelId="{CD4EDB12-7B1C-4382-8FBE-C71717F6FACA}">
      <dgm:prSet phldrT="[Text]" custT="1"/>
      <dgm:spPr/>
      <dgm:t>
        <a:bodyPr/>
        <a:lstStyle/>
        <a:p>
          <a:pPr>
            <a:buNone/>
          </a:pPr>
          <a:r>
            <a:rPr lang="en-GB" sz="1200" dirty="0"/>
            <a:t>The library organization was facing data quality challenges in their CSV datasets due to:</a:t>
          </a:r>
        </a:p>
      </dgm:t>
    </dgm:pt>
    <dgm:pt modelId="{429F3B21-D6E9-4717-BE53-D1E9193F88E9}" type="parTrans" cxnId="{BE39C0BB-8F29-406E-B277-699732A06976}">
      <dgm:prSet/>
      <dgm:spPr/>
      <dgm:t>
        <a:bodyPr/>
        <a:lstStyle/>
        <a:p>
          <a:endParaRPr lang="en-GB"/>
        </a:p>
      </dgm:t>
    </dgm:pt>
    <dgm:pt modelId="{19A962C5-CB12-4EA8-8BCC-A8360A44C825}" type="sibTrans" cxnId="{BE39C0BB-8F29-406E-B277-699732A06976}">
      <dgm:prSet/>
      <dgm:spPr/>
      <dgm:t>
        <a:bodyPr/>
        <a:lstStyle/>
        <a:p>
          <a:endParaRPr lang="en-GB"/>
        </a:p>
      </dgm:t>
    </dgm:pt>
    <dgm:pt modelId="{5F69F5B0-B5F4-43FE-B906-91837056E558}">
      <dgm:prSet phldrT="[Text]"/>
      <dgm:spPr/>
      <dgm:t>
        <a:bodyPr/>
        <a:lstStyle/>
        <a:p>
          <a:r>
            <a:rPr lang="en-GB" dirty="0"/>
            <a:t>Solution</a:t>
          </a:r>
        </a:p>
      </dgm:t>
    </dgm:pt>
    <dgm:pt modelId="{634208D8-A278-4EA3-9A05-D4420F22F8FD}" type="parTrans" cxnId="{E8FE5333-D887-4F95-8179-F3DEABB57248}">
      <dgm:prSet/>
      <dgm:spPr/>
      <dgm:t>
        <a:bodyPr/>
        <a:lstStyle/>
        <a:p>
          <a:endParaRPr lang="en-GB"/>
        </a:p>
      </dgm:t>
    </dgm:pt>
    <dgm:pt modelId="{CE329E4A-9FDE-437B-B037-2AC983564D02}" type="sibTrans" cxnId="{E8FE5333-D887-4F95-8179-F3DEABB57248}">
      <dgm:prSet/>
      <dgm:spPr/>
      <dgm:t>
        <a:bodyPr/>
        <a:lstStyle/>
        <a:p>
          <a:endParaRPr lang="en-GB"/>
        </a:p>
      </dgm:t>
    </dgm:pt>
    <dgm:pt modelId="{66879BBF-E12B-43D7-8C3E-10E69E89049B}">
      <dgm:prSet phldrT="[Text]" custT="1"/>
      <dgm:spPr/>
      <dgm:t>
        <a:bodyPr/>
        <a:lstStyle/>
        <a:p>
          <a:pPr>
            <a:buNone/>
          </a:pPr>
          <a:r>
            <a:rPr lang="en-GB" sz="1200" b="1" dirty="0"/>
            <a:t>Azure Based Solution</a:t>
          </a:r>
        </a:p>
      </dgm:t>
    </dgm:pt>
    <dgm:pt modelId="{1B0DAB0E-91CF-486B-B3E8-0229DDD47DBA}" type="parTrans" cxnId="{3CA61AFE-B0B0-4596-B333-32C82A8BAA47}">
      <dgm:prSet/>
      <dgm:spPr/>
      <dgm:t>
        <a:bodyPr/>
        <a:lstStyle/>
        <a:p>
          <a:endParaRPr lang="en-GB"/>
        </a:p>
      </dgm:t>
    </dgm:pt>
    <dgm:pt modelId="{B0443008-438F-427C-AA62-2DCFCDE096B9}" type="sibTrans" cxnId="{3CA61AFE-B0B0-4596-B333-32C82A8BAA47}">
      <dgm:prSet/>
      <dgm:spPr/>
      <dgm:t>
        <a:bodyPr/>
        <a:lstStyle/>
        <a:p>
          <a:endParaRPr lang="en-GB"/>
        </a:p>
      </dgm:t>
    </dgm:pt>
    <dgm:pt modelId="{48945432-9171-41AE-BCA6-14EDE046FA60}">
      <dgm:prSet phldrT="[Text]"/>
      <dgm:spPr/>
      <dgm:t>
        <a:bodyPr/>
        <a:lstStyle/>
        <a:p>
          <a:r>
            <a:rPr lang="en-GB" dirty="0"/>
            <a:t>Benefits</a:t>
          </a:r>
        </a:p>
      </dgm:t>
    </dgm:pt>
    <dgm:pt modelId="{A007D800-5554-4826-BC7D-D59B90EE9AE6}" type="parTrans" cxnId="{7944154D-2CF6-445D-933A-964CA9C6B6B0}">
      <dgm:prSet/>
      <dgm:spPr/>
      <dgm:t>
        <a:bodyPr/>
        <a:lstStyle/>
        <a:p>
          <a:endParaRPr lang="en-GB"/>
        </a:p>
      </dgm:t>
    </dgm:pt>
    <dgm:pt modelId="{030A6BB2-C899-47C3-8C41-B9A082F497CB}" type="sibTrans" cxnId="{7944154D-2CF6-445D-933A-964CA9C6B6B0}">
      <dgm:prSet/>
      <dgm:spPr/>
      <dgm:t>
        <a:bodyPr/>
        <a:lstStyle/>
        <a:p>
          <a:endParaRPr lang="en-GB"/>
        </a:p>
      </dgm:t>
    </dgm:pt>
    <dgm:pt modelId="{27615BBB-2BEE-4F04-83AF-21ED1EA09D70}">
      <dgm:prSet phldrT="[Text]" custT="1"/>
      <dgm:spPr/>
      <dgm:t>
        <a:bodyPr/>
        <a:lstStyle/>
        <a:p>
          <a:r>
            <a:rPr lang="en-GB" sz="1200" b="0" i="0" dirty="0"/>
            <a:t>Reduced Manual Efforts</a:t>
          </a:r>
        </a:p>
      </dgm:t>
    </dgm:pt>
    <dgm:pt modelId="{FA8BAD6A-07DF-45FC-B288-D2591B465D1E}" type="parTrans" cxnId="{247A25DF-B234-4246-A9D0-5591856B5F7D}">
      <dgm:prSet/>
      <dgm:spPr/>
      <dgm:t>
        <a:bodyPr/>
        <a:lstStyle/>
        <a:p>
          <a:endParaRPr lang="en-GB"/>
        </a:p>
      </dgm:t>
    </dgm:pt>
    <dgm:pt modelId="{6CC459DD-BD76-4012-9351-42C56497D087}" type="sibTrans" cxnId="{247A25DF-B234-4246-A9D0-5591856B5F7D}">
      <dgm:prSet/>
      <dgm:spPr/>
      <dgm:t>
        <a:bodyPr/>
        <a:lstStyle/>
        <a:p>
          <a:endParaRPr lang="en-GB"/>
        </a:p>
      </dgm:t>
    </dgm:pt>
    <dgm:pt modelId="{C844582E-3C81-475B-91A4-7487A47E62D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Null and incomplete records  with duplication</a:t>
          </a:r>
        </a:p>
      </dgm:t>
    </dgm:pt>
    <dgm:pt modelId="{1E55156D-BB12-4D21-82CF-42F38D949658}" type="parTrans" cxnId="{3A98A49D-0F21-4A85-A7F1-55FF74ED08AC}">
      <dgm:prSet/>
      <dgm:spPr/>
      <dgm:t>
        <a:bodyPr/>
        <a:lstStyle/>
        <a:p>
          <a:endParaRPr lang="en-GB"/>
        </a:p>
      </dgm:t>
    </dgm:pt>
    <dgm:pt modelId="{E923A7A3-8C0C-4C06-9FFE-A6473B91ED52}" type="sibTrans" cxnId="{3A98A49D-0F21-4A85-A7F1-55FF74ED08AC}">
      <dgm:prSet/>
      <dgm:spPr/>
      <dgm:t>
        <a:bodyPr/>
        <a:lstStyle/>
        <a:p>
          <a:endParaRPr lang="en-GB"/>
        </a:p>
      </dgm:t>
    </dgm:pt>
    <dgm:pt modelId="{BA75A775-C46E-499D-9EB2-4B968E5E401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Inconsistent formatting and Manual data cleansing effort </a:t>
          </a:r>
        </a:p>
      </dgm:t>
    </dgm:pt>
    <dgm:pt modelId="{F0888A34-770B-4D6D-B734-EE927590CD06}" type="parTrans" cxnId="{7B06FCF7-EA49-4282-B0A7-1896C546C1E8}">
      <dgm:prSet/>
      <dgm:spPr/>
      <dgm:t>
        <a:bodyPr/>
        <a:lstStyle/>
        <a:p>
          <a:endParaRPr lang="en-GB"/>
        </a:p>
      </dgm:t>
    </dgm:pt>
    <dgm:pt modelId="{C0E48262-3CE0-483C-BB02-E62EFD7B7816}" type="sibTrans" cxnId="{7B06FCF7-EA49-4282-B0A7-1896C546C1E8}">
      <dgm:prSet/>
      <dgm:spPr/>
      <dgm:t>
        <a:bodyPr/>
        <a:lstStyle/>
        <a:p>
          <a:endParaRPr lang="en-GB"/>
        </a:p>
      </dgm:t>
    </dgm:pt>
    <dgm:pt modelId="{4B8BC1CF-68DD-4EF1-9AAC-72846926D90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Increased operational overhead and delays </a:t>
          </a:r>
        </a:p>
      </dgm:t>
    </dgm:pt>
    <dgm:pt modelId="{4364FCA6-FE39-4852-A3CC-20D2D5C34A45}" type="parTrans" cxnId="{CEE14097-F6E3-4493-8FDC-39264231DFA5}">
      <dgm:prSet/>
      <dgm:spPr/>
      <dgm:t>
        <a:bodyPr/>
        <a:lstStyle/>
        <a:p>
          <a:endParaRPr lang="en-GB"/>
        </a:p>
      </dgm:t>
    </dgm:pt>
    <dgm:pt modelId="{78BB5F1F-1C90-4D56-AF54-9CBC7B248B21}" type="sibTrans" cxnId="{CEE14097-F6E3-4493-8FDC-39264231DFA5}">
      <dgm:prSet/>
      <dgm:spPr/>
      <dgm:t>
        <a:bodyPr/>
        <a:lstStyle/>
        <a:p>
          <a:endParaRPr lang="en-GB"/>
        </a:p>
      </dgm:t>
    </dgm:pt>
    <dgm:pt modelId="{2F618780-AD78-4A59-B363-DA09CDB3CDE2}">
      <dgm:prSet custT="1"/>
      <dgm:spPr/>
      <dgm:t>
        <a:bodyPr/>
        <a:lstStyle/>
        <a:p>
          <a:pPr>
            <a:buNone/>
          </a:pPr>
          <a:r>
            <a:rPr lang="en-GB" sz="1200" dirty="0"/>
            <a:t>The existing manual process was:</a:t>
          </a:r>
        </a:p>
      </dgm:t>
    </dgm:pt>
    <dgm:pt modelId="{020411AA-3103-42C6-8BF8-EAF66AF3F990}" type="parTrans" cxnId="{716E5252-E1E7-4C72-9B36-4DD63B65EB0D}">
      <dgm:prSet/>
      <dgm:spPr/>
      <dgm:t>
        <a:bodyPr/>
        <a:lstStyle/>
        <a:p>
          <a:endParaRPr lang="en-GB"/>
        </a:p>
      </dgm:t>
    </dgm:pt>
    <dgm:pt modelId="{478F7455-78BD-4447-A59F-5BE417FA2F99}" type="sibTrans" cxnId="{716E5252-E1E7-4C72-9B36-4DD63B65EB0D}">
      <dgm:prSet/>
      <dgm:spPr/>
      <dgm:t>
        <a:bodyPr/>
        <a:lstStyle/>
        <a:p>
          <a:endParaRPr lang="en-GB"/>
        </a:p>
      </dgm:t>
    </dgm:pt>
    <dgm:pt modelId="{27D57C02-43FA-4FA0-BDFE-019CA29C030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Time-consuming ,error-prone  and difficult to scale </a:t>
          </a:r>
        </a:p>
      </dgm:t>
    </dgm:pt>
    <dgm:pt modelId="{E58C1E5F-3E28-499C-BBC3-6347EBF97206}" type="parTrans" cxnId="{040EC35C-C8E1-43F6-B0DE-0400EC79FBC0}">
      <dgm:prSet/>
      <dgm:spPr/>
      <dgm:t>
        <a:bodyPr/>
        <a:lstStyle/>
        <a:p>
          <a:endParaRPr lang="en-GB"/>
        </a:p>
      </dgm:t>
    </dgm:pt>
    <dgm:pt modelId="{9925F68C-7C59-4CA8-9A81-E710409F5C98}" type="sibTrans" cxnId="{040EC35C-C8E1-43F6-B0DE-0400EC79FBC0}">
      <dgm:prSet/>
      <dgm:spPr/>
      <dgm:t>
        <a:bodyPr/>
        <a:lstStyle/>
        <a:p>
          <a:endParaRPr lang="en-GB"/>
        </a:p>
      </dgm:t>
    </dgm:pt>
    <dgm:pt modelId="{35437D49-46B7-4FBE-8103-9911A6EC707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Inefficient for recurring datasets</a:t>
          </a:r>
        </a:p>
      </dgm:t>
    </dgm:pt>
    <dgm:pt modelId="{5CE567E3-89E3-4B3A-BF4F-0AB3DBC7D3E3}" type="parTrans" cxnId="{1C3217DE-58B3-4D8A-840F-4003095487A8}">
      <dgm:prSet/>
      <dgm:spPr/>
      <dgm:t>
        <a:bodyPr/>
        <a:lstStyle/>
        <a:p>
          <a:endParaRPr lang="en-GB"/>
        </a:p>
      </dgm:t>
    </dgm:pt>
    <dgm:pt modelId="{A2F3AFD7-40EE-49F1-8C3D-2EBF45CD3DAD}" type="sibTrans" cxnId="{1C3217DE-58B3-4D8A-840F-4003095487A8}">
      <dgm:prSet/>
      <dgm:spPr/>
      <dgm:t>
        <a:bodyPr/>
        <a:lstStyle/>
        <a:p>
          <a:endParaRPr lang="en-GB"/>
        </a:p>
      </dgm:t>
    </dgm:pt>
    <dgm:pt modelId="{DE32ADF0-850B-4CDF-B23C-24C86392AAA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Python-based automated data cleansing </a:t>
          </a:r>
        </a:p>
      </dgm:t>
    </dgm:pt>
    <dgm:pt modelId="{2DA0990D-0E50-48B1-AAE6-E0C973361D74}" type="parTrans" cxnId="{83B5F384-0940-47E0-B919-A5E6B147AA98}">
      <dgm:prSet/>
      <dgm:spPr/>
      <dgm:t>
        <a:bodyPr/>
        <a:lstStyle/>
        <a:p>
          <a:endParaRPr lang="en-GB"/>
        </a:p>
      </dgm:t>
    </dgm:pt>
    <dgm:pt modelId="{A287E13E-E74F-486B-80FA-47F82600547B}" type="sibTrans" cxnId="{83B5F384-0940-47E0-B919-A5E6B147AA98}">
      <dgm:prSet/>
      <dgm:spPr/>
      <dgm:t>
        <a:bodyPr/>
        <a:lstStyle/>
        <a:p>
          <a:endParaRPr lang="en-GB"/>
        </a:p>
      </dgm:t>
    </dgm:pt>
    <dgm:pt modelId="{3BD1313C-0563-4A97-B2F0-53C2DCB73AB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/>
            <a:t>Validation and transformation logic </a:t>
          </a:r>
        </a:p>
      </dgm:t>
    </dgm:pt>
    <dgm:pt modelId="{C36ABAEE-7753-4EAD-87A2-BA48998D3676}" type="parTrans" cxnId="{110E4F97-6C62-4D1F-8EEA-190FDF0FEB21}">
      <dgm:prSet/>
      <dgm:spPr/>
      <dgm:t>
        <a:bodyPr/>
        <a:lstStyle/>
        <a:p>
          <a:endParaRPr lang="en-GB"/>
        </a:p>
      </dgm:t>
    </dgm:pt>
    <dgm:pt modelId="{1DD2FB60-CA46-445D-A9D8-BBC5B0FD5BC6}" type="sibTrans" cxnId="{110E4F97-6C62-4D1F-8EEA-190FDF0FEB21}">
      <dgm:prSet/>
      <dgm:spPr/>
      <dgm:t>
        <a:bodyPr/>
        <a:lstStyle/>
        <a:p>
          <a:endParaRPr lang="en-GB"/>
        </a:p>
      </dgm:t>
    </dgm:pt>
    <dgm:pt modelId="{E652CC09-D3F7-4766-9143-7FAAE4362D2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Automated clean CSV generation </a:t>
          </a:r>
        </a:p>
      </dgm:t>
    </dgm:pt>
    <dgm:pt modelId="{AEE69B31-199C-4DC2-8A1C-859961F76B6B}" type="parTrans" cxnId="{4A9EDEB5-66E9-478E-BCA0-9163C788A757}">
      <dgm:prSet/>
      <dgm:spPr/>
      <dgm:t>
        <a:bodyPr/>
        <a:lstStyle/>
        <a:p>
          <a:endParaRPr lang="en-GB"/>
        </a:p>
      </dgm:t>
    </dgm:pt>
    <dgm:pt modelId="{E8E9173D-5129-4D85-9AA8-E75329FAC6CA}" type="sibTrans" cxnId="{4A9EDEB5-66E9-478E-BCA0-9163C788A757}">
      <dgm:prSet/>
      <dgm:spPr/>
      <dgm:t>
        <a:bodyPr/>
        <a:lstStyle/>
        <a:p>
          <a:endParaRPr lang="en-GB"/>
        </a:p>
      </dgm:t>
    </dgm:pt>
    <dgm:pt modelId="{0B207EE1-2F2B-419D-8285-90A63543CD5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/>
            <a:t>CI/CD-based deployment automation using DevOps </a:t>
          </a:r>
        </a:p>
      </dgm:t>
    </dgm:pt>
    <dgm:pt modelId="{E912DEF1-3C59-4179-A6C5-C8B60794A8F5}" type="parTrans" cxnId="{BE5D5512-4F59-47C8-93CE-27026AC433E4}">
      <dgm:prSet/>
      <dgm:spPr/>
      <dgm:t>
        <a:bodyPr/>
        <a:lstStyle/>
        <a:p>
          <a:endParaRPr lang="en-GB"/>
        </a:p>
      </dgm:t>
    </dgm:pt>
    <dgm:pt modelId="{72B02C86-15AA-4E86-BFC6-074383B3AD4A}" type="sibTrans" cxnId="{BE5D5512-4F59-47C8-93CE-27026AC433E4}">
      <dgm:prSet/>
      <dgm:spPr/>
      <dgm:t>
        <a:bodyPr/>
        <a:lstStyle/>
        <a:p>
          <a:endParaRPr lang="en-GB"/>
        </a:p>
      </dgm:t>
    </dgm:pt>
    <dgm:pt modelId="{82405309-214F-489A-BF9F-3AEA9204102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Dashboard reporting for monitoring data quality improvements </a:t>
          </a:r>
        </a:p>
      </dgm:t>
    </dgm:pt>
    <dgm:pt modelId="{279108C0-D71F-46D8-BEBB-FB33A31F8EAE}" type="parTrans" cxnId="{E80DEA11-94D4-4466-B3FA-AAFCDDFD0259}">
      <dgm:prSet/>
      <dgm:spPr/>
      <dgm:t>
        <a:bodyPr/>
        <a:lstStyle/>
        <a:p>
          <a:endParaRPr lang="en-GB"/>
        </a:p>
      </dgm:t>
    </dgm:pt>
    <dgm:pt modelId="{7FFBD94F-11A6-4C39-AC6F-C296B548AB7A}" type="sibTrans" cxnId="{E80DEA11-94D4-4466-B3FA-AAFCDDFD0259}">
      <dgm:prSet/>
      <dgm:spPr/>
      <dgm:t>
        <a:bodyPr/>
        <a:lstStyle/>
        <a:p>
          <a:endParaRPr lang="en-GB"/>
        </a:p>
      </dgm:t>
    </dgm:pt>
    <dgm:pt modelId="{35E8DABA-82D5-4DB2-B848-4964BAD82D8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200" dirty="0"/>
            <a:t>Integration with Microsoft Power BI for visualization </a:t>
          </a:r>
        </a:p>
      </dgm:t>
    </dgm:pt>
    <dgm:pt modelId="{3B823ED7-5058-4D0C-9C25-F9554901C95F}" type="parTrans" cxnId="{232A1F31-1610-4A31-88DA-C4D639FA5D6D}">
      <dgm:prSet/>
      <dgm:spPr/>
      <dgm:t>
        <a:bodyPr/>
        <a:lstStyle/>
        <a:p>
          <a:endParaRPr lang="en-GB"/>
        </a:p>
      </dgm:t>
    </dgm:pt>
    <dgm:pt modelId="{58137B1D-DC44-40FB-9166-59BBCB9F1EB6}" type="sibTrans" cxnId="{232A1F31-1610-4A31-88DA-C4D639FA5D6D}">
      <dgm:prSet/>
      <dgm:spPr/>
      <dgm:t>
        <a:bodyPr/>
        <a:lstStyle/>
        <a:p>
          <a:endParaRPr lang="en-GB"/>
        </a:p>
      </dgm:t>
    </dgm:pt>
    <dgm:pt modelId="{7FAEB31C-D541-4E7F-8374-8FEE74502F28}">
      <dgm:prSet phldrT="[Text]" custT="1"/>
      <dgm:spPr/>
      <dgm:t>
        <a:bodyPr/>
        <a:lstStyle/>
        <a:p>
          <a:r>
            <a:rPr lang="en-GB" sz="1200" b="0" i="0" dirty="0"/>
            <a:t>Improved Data Accuracy and consistency</a:t>
          </a:r>
        </a:p>
      </dgm:t>
    </dgm:pt>
    <dgm:pt modelId="{DAE4708F-D64F-4232-924B-E7F2A9676CCF}" type="parTrans" cxnId="{C75B88BE-8C58-47F9-BBFD-BE73460268E9}">
      <dgm:prSet/>
      <dgm:spPr/>
      <dgm:t>
        <a:bodyPr/>
        <a:lstStyle/>
        <a:p>
          <a:endParaRPr lang="en-GB"/>
        </a:p>
      </dgm:t>
    </dgm:pt>
    <dgm:pt modelId="{56883E1B-FCD9-4234-9320-54B34E432A74}" type="sibTrans" cxnId="{C75B88BE-8C58-47F9-BBFD-BE73460268E9}">
      <dgm:prSet/>
      <dgm:spPr/>
      <dgm:t>
        <a:bodyPr/>
        <a:lstStyle/>
        <a:p>
          <a:endParaRPr lang="en-GB"/>
        </a:p>
      </dgm:t>
    </dgm:pt>
    <dgm:pt modelId="{BB64E631-2E64-4E22-802E-2DE4DAEAC292}">
      <dgm:prSet phldrT="[Text]" custT="1"/>
      <dgm:spPr/>
      <dgm:t>
        <a:bodyPr/>
        <a:lstStyle/>
        <a:p>
          <a:r>
            <a:rPr lang="en-GB" sz="1200" b="0" i="0" dirty="0"/>
            <a:t>Faster processing and Reporting</a:t>
          </a:r>
        </a:p>
      </dgm:t>
    </dgm:pt>
    <dgm:pt modelId="{95FC4633-BDD4-45C3-AF33-1446596057C4}" type="parTrans" cxnId="{22C127B5-19AF-4B16-B3DA-669F37F0AFC3}">
      <dgm:prSet/>
      <dgm:spPr/>
      <dgm:t>
        <a:bodyPr/>
        <a:lstStyle/>
        <a:p>
          <a:endParaRPr lang="en-GB"/>
        </a:p>
      </dgm:t>
    </dgm:pt>
    <dgm:pt modelId="{444D7700-409B-4050-A170-34BE68129E6B}" type="sibTrans" cxnId="{22C127B5-19AF-4B16-B3DA-669F37F0AFC3}">
      <dgm:prSet/>
      <dgm:spPr/>
      <dgm:t>
        <a:bodyPr/>
        <a:lstStyle/>
        <a:p>
          <a:endParaRPr lang="en-GB"/>
        </a:p>
      </dgm:t>
    </dgm:pt>
    <dgm:pt modelId="{54971D21-86B2-4465-AAA9-15EE77ACDBB4}">
      <dgm:prSet phldrT="[Text]" custT="1"/>
      <dgm:spPr/>
      <dgm:t>
        <a:bodyPr/>
        <a:lstStyle/>
        <a:p>
          <a:r>
            <a:rPr lang="en-GB" sz="1200" b="0" i="0" dirty="0"/>
            <a:t>Repeatable and scalable workflow</a:t>
          </a:r>
        </a:p>
      </dgm:t>
    </dgm:pt>
    <dgm:pt modelId="{E0AF0621-AECF-43C5-8495-34A0EF40A8E2}" type="parTrans" cxnId="{3D70C1DE-FD55-42C6-A5B0-0CECC65B30C2}">
      <dgm:prSet/>
      <dgm:spPr/>
      <dgm:t>
        <a:bodyPr/>
        <a:lstStyle/>
        <a:p>
          <a:endParaRPr lang="en-GB"/>
        </a:p>
      </dgm:t>
    </dgm:pt>
    <dgm:pt modelId="{AEFA852F-108E-443D-B5DF-269C6633C7E6}" type="sibTrans" cxnId="{3D70C1DE-FD55-42C6-A5B0-0CECC65B30C2}">
      <dgm:prSet/>
      <dgm:spPr/>
      <dgm:t>
        <a:bodyPr/>
        <a:lstStyle/>
        <a:p>
          <a:endParaRPr lang="en-GB"/>
        </a:p>
      </dgm:t>
    </dgm:pt>
    <dgm:pt modelId="{F4737CF9-E791-479A-8740-993574DCDE16}">
      <dgm:prSet phldrT="[Text]" custT="1"/>
      <dgm:spPr/>
      <dgm:t>
        <a:bodyPr/>
        <a:lstStyle/>
        <a:p>
          <a:r>
            <a:rPr lang="en-GB" sz="1200" b="0" i="0" dirty="0"/>
            <a:t>Automated Deployment and  Maintenance</a:t>
          </a:r>
        </a:p>
      </dgm:t>
    </dgm:pt>
    <dgm:pt modelId="{2A3B35F6-71CF-4322-AB0E-308321C4BD19}" type="parTrans" cxnId="{07F0E17C-0886-49D8-9D01-38B80732D0A2}">
      <dgm:prSet/>
      <dgm:spPr/>
      <dgm:t>
        <a:bodyPr/>
        <a:lstStyle/>
        <a:p>
          <a:endParaRPr lang="en-GB"/>
        </a:p>
      </dgm:t>
    </dgm:pt>
    <dgm:pt modelId="{9113F7C0-C633-4981-92E7-201099F740F3}" type="sibTrans" cxnId="{07F0E17C-0886-49D8-9D01-38B80732D0A2}">
      <dgm:prSet/>
      <dgm:spPr/>
      <dgm:t>
        <a:bodyPr/>
        <a:lstStyle/>
        <a:p>
          <a:endParaRPr lang="en-GB"/>
        </a:p>
      </dgm:t>
    </dgm:pt>
    <dgm:pt modelId="{77F24BF8-7428-4A01-9E5D-A3ABC31EE463}">
      <dgm:prSet phldrT="[Text]" custT="1"/>
      <dgm:spPr/>
      <dgm:t>
        <a:bodyPr/>
        <a:lstStyle/>
        <a:p>
          <a:r>
            <a:rPr lang="en-GB" sz="1200" b="0" i="0" dirty="0"/>
            <a:t>Better visibility into Data metrics </a:t>
          </a:r>
        </a:p>
      </dgm:t>
    </dgm:pt>
    <dgm:pt modelId="{725FAE1B-2D51-4572-8D5B-DEDF3024E65E}" type="parTrans" cxnId="{A709D5E4-19CE-44AA-B811-70DE8088FE02}">
      <dgm:prSet/>
      <dgm:spPr/>
      <dgm:t>
        <a:bodyPr/>
        <a:lstStyle/>
        <a:p>
          <a:endParaRPr lang="en-GB"/>
        </a:p>
      </dgm:t>
    </dgm:pt>
    <dgm:pt modelId="{526D0366-4B2D-4B4A-8451-E68E2BB23625}" type="sibTrans" cxnId="{A709D5E4-19CE-44AA-B811-70DE8088FE02}">
      <dgm:prSet/>
      <dgm:spPr/>
      <dgm:t>
        <a:bodyPr/>
        <a:lstStyle/>
        <a:p>
          <a:endParaRPr lang="en-GB"/>
        </a:p>
      </dgm:t>
    </dgm:pt>
    <dgm:pt modelId="{6EE44CF7-C95F-47F4-85E8-D517580E7CA2}" type="pres">
      <dgm:prSet presAssocID="{5333261B-E7D6-402D-80B2-B90E77D8F5EB}" presName="linear" presStyleCnt="0">
        <dgm:presLayoutVars>
          <dgm:dir/>
          <dgm:animLvl val="lvl"/>
          <dgm:resizeHandles val="exact"/>
        </dgm:presLayoutVars>
      </dgm:prSet>
      <dgm:spPr/>
    </dgm:pt>
    <dgm:pt modelId="{B56D2756-3EF1-437E-A3A7-05180EF7E9A8}" type="pres">
      <dgm:prSet presAssocID="{61C3709F-9E40-46D4-B6C3-D25C2D5E7ACF}" presName="parentLin" presStyleCnt="0"/>
      <dgm:spPr/>
    </dgm:pt>
    <dgm:pt modelId="{A4180C13-6A09-42BC-8645-B41988011361}" type="pres">
      <dgm:prSet presAssocID="{61C3709F-9E40-46D4-B6C3-D25C2D5E7ACF}" presName="parentLeftMargin" presStyleLbl="node1" presStyleIdx="0" presStyleCnt="3"/>
      <dgm:spPr/>
    </dgm:pt>
    <dgm:pt modelId="{C78D8051-CBDC-4A04-8214-DC46474FCAD1}" type="pres">
      <dgm:prSet presAssocID="{61C3709F-9E40-46D4-B6C3-D25C2D5E7A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8D5958-7891-4FF0-B81E-866A6169B3AC}" type="pres">
      <dgm:prSet presAssocID="{61C3709F-9E40-46D4-B6C3-D25C2D5E7ACF}" presName="negativeSpace" presStyleCnt="0"/>
      <dgm:spPr/>
    </dgm:pt>
    <dgm:pt modelId="{D060E826-CDF7-49BA-B6A6-86289AA35390}" type="pres">
      <dgm:prSet presAssocID="{61C3709F-9E40-46D4-B6C3-D25C2D5E7ACF}" presName="childText" presStyleLbl="conFgAcc1" presStyleIdx="0" presStyleCnt="3">
        <dgm:presLayoutVars>
          <dgm:bulletEnabled val="1"/>
        </dgm:presLayoutVars>
      </dgm:prSet>
      <dgm:spPr/>
    </dgm:pt>
    <dgm:pt modelId="{733D2C22-6E46-4261-B2D6-104886D35D28}" type="pres">
      <dgm:prSet presAssocID="{29D6E598-F4E9-4B97-AE0E-0506CFCE27FE}" presName="spaceBetweenRectangles" presStyleCnt="0"/>
      <dgm:spPr/>
    </dgm:pt>
    <dgm:pt modelId="{87C28D94-7DE5-447C-AAB1-72B6443AB7CC}" type="pres">
      <dgm:prSet presAssocID="{5F69F5B0-B5F4-43FE-B906-91837056E558}" presName="parentLin" presStyleCnt="0"/>
      <dgm:spPr/>
    </dgm:pt>
    <dgm:pt modelId="{BED9C44F-2519-4396-A5C0-6C729C702949}" type="pres">
      <dgm:prSet presAssocID="{5F69F5B0-B5F4-43FE-B906-91837056E558}" presName="parentLeftMargin" presStyleLbl="node1" presStyleIdx="0" presStyleCnt="3"/>
      <dgm:spPr/>
    </dgm:pt>
    <dgm:pt modelId="{7B89D7D9-E86F-4E17-8FAD-D12D1C055651}" type="pres">
      <dgm:prSet presAssocID="{5F69F5B0-B5F4-43FE-B906-91837056E5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75C4B58-788C-4E54-9EB7-01C444E41066}" type="pres">
      <dgm:prSet presAssocID="{5F69F5B0-B5F4-43FE-B906-91837056E558}" presName="negativeSpace" presStyleCnt="0"/>
      <dgm:spPr/>
    </dgm:pt>
    <dgm:pt modelId="{2A3C460D-B0B4-44C5-A4F8-B60D3EAC15A2}" type="pres">
      <dgm:prSet presAssocID="{5F69F5B0-B5F4-43FE-B906-91837056E558}" presName="childText" presStyleLbl="conFgAcc1" presStyleIdx="1" presStyleCnt="3">
        <dgm:presLayoutVars>
          <dgm:bulletEnabled val="1"/>
        </dgm:presLayoutVars>
      </dgm:prSet>
      <dgm:spPr/>
    </dgm:pt>
    <dgm:pt modelId="{597C7360-8E1B-4FAF-A7E3-6A1B7591A009}" type="pres">
      <dgm:prSet presAssocID="{CE329E4A-9FDE-437B-B037-2AC983564D02}" presName="spaceBetweenRectangles" presStyleCnt="0"/>
      <dgm:spPr/>
    </dgm:pt>
    <dgm:pt modelId="{30CB012D-FF10-4533-AE1E-5DC46F257031}" type="pres">
      <dgm:prSet presAssocID="{48945432-9171-41AE-BCA6-14EDE046FA60}" presName="parentLin" presStyleCnt="0"/>
      <dgm:spPr/>
    </dgm:pt>
    <dgm:pt modelId="{FC0261B5-1BE9-46C2-8835-F7B5E72ACA0E}" type="pres">
      <dgm:prSet presAssocID="{48945432-9171-41AE-BCA6-14EDE046FA60}" presName="parentLeftMargin" presStyleLbl="node1" presStyleIdx="1" presStyleCnt="3"/>
      <dgm:spPr/>
    </dgm:pt>
    <dgm:pt modelId="{1DAC65EC-050F-447D-BB91-CA33E510FB46}" type="pres">
      <dgm:prSet presAssocID="{48945432-9171-41AE-BCA6-14EDE046FA6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9DC8EE9-CBD1-43B7-A713-88FEA2770046}" type="pres">
      <dgm:prSet presAssocID="{48945432-9171-41AE-BCA6-14EDE046FA60}" presName="negativeSpace" presStyleCnt="0"/>
      <dgm:spPr/>
    </dgm:pt>
    <dgm:pt modelId="{74921BDD-2C78-4B4B-B1F2-C152018E7F6C}" type="pres">
      <dgm:prSet presAssocID="{48945432-9171-41AE-BCA6-14EDE046FA6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80DEA11-94D4-4466-B3FA-AAFCDDFD0259}" srcId="{5F69F5B0-B5F4-43FE-B906-91837056E558}" destId="{82405309-214F-489A-BF9F-3AEA92041029}" srcOrd="5" destOrd="0" parTransId="{279108C0-D71F-46D8-BEBB-FB33A31F8EAE}" sibTransId="{7FFBD94F-11A6-4C39-AC6F-C296B548AB7A}"/>
    <dgm:cxn modelId="{BE5D5512-4F59-47C8-93CE-27026AC433E4}" srcId="{5F69F5B0-B5F4-43FE-B906-91837056E558}" destId="{0B207EE1-2F2B-419D-8285-90A63543CD5C}" srcOrd="4" destOrd="0" parTransId="{E912DEF1-3C59-4179-A6C5-C8B60794A8F5}" sibTransId="{72B02C86-15AA-4E86-BFC6-074383B3AD4A}"/>
    <dgm:cxn modelId="{413E8112-2015-4E11-8FC1-D18AF1A3E14E}" type="presOf" srcId="{35E8DABA-82D5-4DB2-B848-4964BAD82D82}" destId="{2A3C460D-B0B4-44C5-A4F8-B60D3EAC15A2}" srcOrd="0" destOrd="6" presId="urn:microsoft.com/office/officeart/2005/8/layout/list1"/>
    <dgm:cxn modelId="{BC12F216-70BD-46CD-9D9A-ECD224A00DCE}" type="presOf" srcId="{61C3709F-9E40-46D4-B6C3-D25C2D5E7ACF}" destId="{A4180C13-6A09-42BC-8645-B41988011361}" srcOrd="0" destOrd="0" presId="urn:microsoft.com/office/officeart/2005/8/layout/list1"/>
    <dgm:cxn modelId="{FB3C402A-5565-4CD8-B567-CB8AB9166ECB}" type="presOf" srcId="{E652CC09-D3F7-4766-9143-7FAAE4362D27}" destId="{2A3C460D-B0B4-44C5-A4F8-B60D3EAC15A2}" srcOrd="0" destOrd="3" presId="urn:microsoft.com/office/officeart/2005/8/layout/list1"/>
    <dgm:cxn modelId="{232A1F31-1610-4A31-88DA-C4D639FA5D6D}" srcId="{5F69F5B0-B5F4-43FE-B906-91837056E558}" destId="{35E8DABA-82D5-4DB2-B848-4964BAD82D82}" srcOrd="6" destOrd="0" parTransId="{3B823ED7-5058-4D0C-9C25-F9554901C95F}" sibTransId="{58137B1D-DC44-40FB-9166-59BBCB9F1EB6}"/>
    <dgm:cxn modelId="{E8FE5333-D887-4F95-8179-F3DEABB57248}" srcId="{5333261B-E7D6-402D-80B2-B90E77D8F5EB}" destId="{5F69F5B0-B5F4-43FE-B906-91837056E558}" srcOrd="1" destOrd="0" parTransId="{634208D8-A278-4EA3-9A05-D4420F22F8FD}" sibTransId="{CE329E4A-9FDE-437B-B037-2AC983564D02}"/>
    <dgm:cxn modelId="{ED2CE039-7219-41BF-873E-3EBD553457CB}" type="presOf" srcId="{0B207EE1-2F2B-419D-8285-90A63543CD5C}" destId="{2A3C460D-B0B4-44C5-A4F8-B60D3EAC15A2}" srcOrd="0" destOrd="4" presId="urn:microsoft.com/office/officeart/2005/8/layout/list1"/>
    <dgm:cxn modelId="{0E4D123B-9752-474C-BC2F-E3C6E5731098}" type="presOf" srcId="{2F618780-AD78-4A59-B363-DA09CDB3CDE2}" destId="{D060E826-CDF7-49BA-B6A6-86289AA35390}" srcOrd="0" destOrd="4" presId="urn:microsoft.com/office/officeart/2005/8/layout/list1"/>
    <dgm:cxn modelId="{A976903E-BFD1-459B-AAFC-4087DE81F64E}" type="presOf" srcId="{61C3709F-9E40-46D4-B6C3-D25C2D5E7ACF}" destId="{C78D8051-CBDC-4A04-8214-DC46474FCAD1}" srcOrd="1" destOrd="0" presId="urn:microsoft.com/office/officeart/2005/8/layout/list1"/>
    <dgm:cxn modelId="{040EC35C-C8E1-43F6-B0DE-0400EC79FBC0}" srcId="{61C3709F-9E40-46D4-B6C3-D25C2D5E7ACF}" destId="{27D57C02-43FA-4FA0-BDFE-019CA29C030F}" srcOrd="5" destOrd="0" parTransId="{E58C1E5F-3E28-499C-BBC3-6347EBF97206}" sibTransId="{9925F68C-7C59-4CA8-9A81-E710409F5C98}"/>
    <dgm:cxn modelId="{189E3361-3C0E-412F-952A-95888DD3F3C4}" type="presOf" srcId="{5333261B-E7D6-402D-80B2-B90E77D8F5EB}" destId="{6EE44CF7-C95F-47F4-85E8-D517580E7CA2}" srcOrd="0" destOrd="0" presId="urn:microsoft.com/office/officeart/2005/8/layout/list1"/>
    <dgm:cxn modelId="{D36AD848-F385-4424-9B62-74193C106BB4}" type="presOf" srcId="{5F69F5B0-B5F4-43FE-B906-91837056E558}" destId="{BED9C44F-2519-4396-A5C0-6C729C702949}" srcOrd="0" destOrd="0" presId="urn:microsoft.com/office/officeart/2005/8/layout/list1"/>
    <dgm:cxn modelId="{7944154D-2CF6-445D-933A-964CA9C6B6B0}" srcId="{5333261B-E7D6-402D-80B2-B90E77D8F5EB}" destId="{48945432-9171-41AE-BCA6-14EDE046FA60}" srcOrd="2" destOrd="0" parTransId="{A007D800-5554-4826-BC7D-D59B90EE9AE6}" sibTransId="{030A6BB2-C899-47C3-8C41-B9A082F497CB}"/>
    <dgm:cxn modelId="{64D51B51-78ED-4DA9-8B0B-6D85590203ED}" type="presOf" srcId="{BA75A775-C46E-499D-9EB2-4B968E5E4017}" destId="{D060E826-CDF7-49BA-B6A6-86289AA35390}" srcOrd="0" destOrd="2" presId="urn:microsoft.com/office/officeart/2005/8/layout/list1"/>
    <dgm:cxn modelId="{716E5252-E1E7-4C72-9B36-4DD63B65EB0D}" srcId="{61C3709F-9E40-46D4-B6C3-D25C2D5E7ACF}" destId="{2F618780-AD78-4A59-B363-DA09CDB3CDE2}" srcOrd="4" destOrd="0" parTransId="{020411AA-3103-42C6-8BF8-EAF66AF3F990}" sibTransId="{478F7455-78BD-4447-A59F-5BE417FA2F99}"/>
    <dgm:cxn modelId="{00E92275-C3A2-45D4-BA4A-9F6CA65BA865}" type="presOf" srcId="{66879BBF-E12B-43D7-8C3E-10E69E89049B}" destId="{2A3C460D-B0B4-44C5-A4F8-B60D3EAC15A2}" srcOrd="0" destOrd="0" presId="urn:microsoft.com/office/officeart/2005/8/layout/list1"/>
    <dgm:cxn modelId="{6D10D075-2E2F-437F-A9AE-1D3FF289606D}" type="presOf" srcId="{CD4EDB12-7B1C-4382-8FBE-C71717F6FACA}" destId="{D060E826-CDF7-49BA-B6A6-86289AA35390}" srcOrd="0" destOrd="0" presId="urn:microsoft.com/office/officeart/2005/8/layout/list1"/>
    <dgm:cxn modelId="{07F0E17C-0886-49D8-9D01-38B80732D0A2}" srcId="{48945432-9171-41AE-BCA6-14EDE046FA60}" destId="{F4737CF9-E791-479A-8740-993574DCDE16}" srcOrd="4" destOrd="0" parTransId="{2A3B35F6-71CF-4322-AB0E-308321C4BD19}" sibTransId="{9113F7C0-C633-4981-92E7-201099F740F3}"/>
    <dgm:cxn modelId="{AECD737E-DD11-4627-8F35-B4A78D3D7779}" type="presOf" srcId="{4B8BC1CF-68DD-4EF1-9AAC-72846926D900}" destId="{D060E826-CDF7-49BA-B6A6-86289AA35390}" srcOrd="0" destOrd="3" presId="urn:microsoft.com/office/officeart/2005/8/layout/list1"/>
    <dgm:cxn modelId="{C4DE7383-58F6-4921-9BDB-0BD4DA5A8C46}" type="presOf" srcId="{48945432-9171-41AE-BCA6-14EDE046FA60}" destId="{FC0261B5-1BE9-46C2-8835-F7B5E72ACA0E}" srcOrd="0" destOrd="0" presId="urn:microsoft.com/office/officeart/2005/8/layout/list1"/>
    <dgm:cxn modelId="{83B5F384-0940-47E0-B919-A5E6B147AA98}" srcId="{5F69F5B0-B5F4-43FE-B906-91837056E558}" destId="{DE32ADF0-850B-4CDF-B23C-24C86392AAA2}" srcOrd="1" destOrd="0" parTransId="{2DA0990D-0E50-48B1-AAE6-E0C973361D74}" sibTransId="{A287E13E-E74F-486B-80FA-47F82600547B}"/>
    <dgm:cxn modelId="{D7408986-8B20-4241-9C2C-985AEA2BB0B8}" type="presOf" srcId="{82405309-214F-489A-BF9F-3AEA92041029}" destId="{2A3C460D-B0B4-44C5-A4F8-B60D3EAC15A2}" srcOrd="0" destOrd="5" presId="urn:microsoft.com/office/officeart/2005/8/layout/list1"/>
    <dgm:cxn modelId="{68CC2687-17B7-42ED-AEC4-48342763B280}" type="presOf" srcId="{3BD1313C-0563-4A97-B2F0-53C2DCB73AB3}" destId="{2A3C460D-B0B4-44C5-A4F8-B60D3EAC15A2}" srcOrd="0" destOrd="2" presId="urn:microsoft.com/office/officeart/2005/8/layout/list1"/>
    <dgm:cxn modelId="{CEE14097-F6E3-4493-8FDC-39264231DFA5}" srcId="{61C3709F-9E40-46D4-B6C3-D25C2D5E7ACF}" destId="{4B8BC1CF-68DD-4EF1-9AAC-72846926D900}" srcOrd="3" destOrd="0" parTransId="{4364FCA6-FE39-4852-A3CC-20D2D5C34A45}" sibTransId="{78BB5F1F-1C90-4D56-AF54-9CBC7B248B21}"/>
    <dgm:cxn modelId="{110E4F97-6C62-4D1F-8EEA-190FDF0FEB21}" srcId="{5F69F5B0-B5F4-43FE-B906-91837056E558}" destId="{3BD1313C-0563-4A97-B2F0-53C2DCB73AB3}" srcOrd="2" destOrd="0" parTransId="{C36ABAEE-7753-4EAD-87A2-BA48998D3676}" sibTransId="{1DD2FB60-CA46-445D-A9D8-BBC5B0FD5BC6}"/>
    <dgm:cxn modelId="{0281E097-A110-45E0-A362-7260F29497E6}" type="presOf" srcId="{54971D21-86B2-4465-AAA9-15EE77ACDBB4}" destId="{74921BDD-2C78-4B4B-B1F2-C152018E7F6C}" srcOrd="0" destOrd="3" presId="urn:microsoft.com/office/officeart/2005/8/layout/list1"/>
    <dgm:cxn modelId="{4AFACA9B-F658-48B9-9069-551EE6B051D4}" type="presOf" srcId="{35437D49-46B7-4FBE-8103-9911A6EC7075}" destId="{D060E826-CDF7-49BA-B6A6-86289AA35390}" srcOrd="0" destOrd="6" presId="urn:microsoft.com/office/officeart/2005/8/layout/list1"/>
    <dgm:cxn modelId="{3A98A49D-0F21-4A85-A7F1-55FF74ED08AC}" srcId="{61C3709F-9E40-46D4-B6C3-D25C2D5E7ACF}" destId="{C844582E-3C81-475B-91A4-7487A47E62D7}" srcOrd="1" destOrd="0" parTransId="{1E55156D-BB12-4D21-82CF-42F38D949658}" sibTransId="{E923A7A3-8C0C-4C06-9FFE-A6473B91ED52}"/>
    <dgm:cxn modelId="{0456C6A4-6AC4-47C8-B271-319BA5A61BE2}" type="presOf" srcId="{BB64E631-2E64-4E22-802E-2DE4DAEAC292}" destId="{74921BDD-2C78-4B4B-B1F2-C152018E7F6C}" srcOrd="0" destOrd="2" presId="urn:microsoft.com/office/officeart/2005/8/layout/list1"/>
    <dgm:cxn modelId="{22C127B5-19AF-4B16-B3DA-669F37F0AFC3}" srcId="{48945432-9171-41AE-BCA6-14EDE046FA60}" destId="{BB64E631-2E64-4E22-802E-2DE4DAEAC292}" srcOrd="2" destOrd="0" parTransId="{95FC4633-BDD4-45C3-AF33-1446596057C4}" sibTransId="{444D7700-409B-4050-A170-34BE68129E6B}"/>
    <dgm:cxn modelId="{4A9EDEB5-66E9-478E-BCA0-9163C788A757}" srcId="{5F69F5B0-B5F4-43FE-B906-91837056E558}" destId="{E652CC09-D3F7-4766-9143-7FAAE4362D27}" srcOrd="3" destOrd="0" parTransId="{AEE69B31-199C-4DC2-8A1C-859961F76B6B}" sibTransId="{E8E9173D-5129-4D85-9AA8-E75329FAC6CA}"/>
    <dgm:cxn modelId="{F3ABB0B6-23DD-4A6A-867F-1B7070AFDA00}" type="presOf" srcId="{DE32ADF0-850B-4CDF-B23C-24C86392AAA2}" destId="{2A3C460D-B0B4-44C5-A4F8-B60D3EAC15A2}" srcOrd="0" destOrd="1" presId="urn:microsoft.com/office/officeart/2005/8/layout/list1"/>
    <dgm:cxn modelId="{A02BD2B6-5132-47D7-8A91-46629FE65930}" type="presOf" srcId="{F4737CF9-E791-479A-8740-993574DCDE16}" destId="{74921BDD-2C78-4B4B-B1F2-C152018E7F6C}" srcOrd="0" destOrd="4" presId="urn:microsoft.com/office/officeart/2005/8/layout/list1"/>
    <dgm:cxn modelId="{8988F7B8-61FC-4803-8A39-C237A03B642A}" type="presOf" srcId="{27615BBB-2BEE-4F04-83AF-21ED1EA09D70}" destId="{74921BDD-2C78-4B4B-B1F2-C152018E7F6C}" srcOrd="0" destOrd="0" presId="urn:microsoft.com/office/officeart/2005/8/layout/list1"/>
    <dgm:cxn modelId="{BE39C0BB-8F29-406E-B277-699732A06976}" srcId="{61C3709F-9E40-46D4-B6C3-D25C2D5E7ACF}" destId="{CD4EDB12-7B1C-4382-8FBE-C71717F6FACA}" srcOrd="0" destOrd="0" parTransId="{429F3B21-D6E9-4717-BE53-D1E9193F88E9}" sibTransId="{19A962C5-CB12-4EA8-8BCC-A8360A44C825}"/>
    <dgm:cxn modelId="{C75B88BE-8C58-47F9-BBFD-BE73460268E9}" srcId="{48945432-9171-41AE-BCA6-14EDE046FA60}" destId="{7FAEB31C-D541-4E7F-8374-8FEE74502F28}" srcOrd="1" destOrd="0" parTransId="{DAE4708F-D64F-4232-924B-E7F2A9676CCF}" sibTransId="{56883E1B-FCD9-4234-9320-54B34E432A74}"/>
    <dgm:cxn modelId="{4ED87CC2-BA8A-41F8-BDE1-E1F1D75326ED}" type="presOf" srcId="{C844582E-3C81-475B-91A4-7487A47E62D7}" destId="{D060E826-CDF7-49BA-B6A6-86289AA35390}" srcOrd="0" destOrd="1" presId="urn:microsoft.com/office/officeart/2005/8/layout/list1"/>
    <dgm:cxn modelId="{3FB902D6-E958-429B-BB02-0A87D8777D6E}" srcId="{5333261B-E7D6-402D-80B2-B90E77D8F5EB}" destId="{61C3709F-9E40-46D4-B6C3-D25C2D5E7ACF}" srcOrd="0" destOrd="0" parTransId="{A9B7DF1D-B1D0-46E0-96C6-1912B7C78F7A}" sibTransId="{29D6E598-F4E9-4B97-AE0E-0506CFCE27FE}"/>
    <dgm:cxn modelId="{0EEC8BD9-F722-45CB-90EF-C3766FD0C066}" type="presOf" srcId="{7FAEB31C-D541-4E7F-8374-8FEE74502F28}" destId="{74921BDD-2C78-4B4B-B1F2-C152018E7F6C}" srcOrd="0" destOrd="1" presId="urn:microsoft.com/office/officeart/2005/8/layout/list1"/>
    <dgm:cxn modelId="{1C3217DE-58B3-4D8A-840F-4003095487A8}" srcId="{61C3709F-9E40-46D4-B6C3-D25C2D5E7ACF}" destId="{35437D49-46B7-4FBE-8103-9911A6EC7075}" srcOrd="6" destOrd="0" parTransId="{5CE567E3-89E3-4B3A-BF4F-0AB3DBC7D3E3}" sibTransId="{A2F3AFD7-40EE-49F1-8C3D-2EBF45CD3DAD}"/>
    <dgm:cxn modelId="{3D70C1DE-FD55-42C6-A5B0-0CECC65B30C2}" srcId="{48945432-9171-41AE-BCA6-14EDE046FA60}" destId="{54971D21-86B2-4465-AAA9-15EE77ACDBB4}" srcOrd="3" destOrd="0" parTransId="{E0AF0621-AECF-43C5-8495-34A0EF40A8E2}" sibTransId="{AEFA852F-108E-443D-B5DF-269C6633C7E6}"/>
    <dgm:cxn modelId="{247A25DF-B234-4246-A9D0-5591856B5F7D}" srcId="{48945432-9171-41AE-BCA6-14EDE046FA60}" destId="{27615BBB-2BEE-4F04-83AF-21ED1EA09D70}" srcOrd="0" destOrd="0" parTransId="{FA8BAD6A-07DF-45FC-B288-D2591B465D1E}" sibTransId="{6CC459DD-BD76-4012-9351-42C56497D087}"/>
    <dgm:cxn modelId="{A709D5E4-19CE-44AA-B811-70DE8088FE02}" srcId="{48945432-9171-41AE-BCA6-14EDE046FA60}" destId="{77F24BF8-7428-4A01-9E5D-A3ABC31EE463}" srcOrd="5" destOrd="0" parTransId="{725FAE1B-2D51-4572-8D5B-DEDF3024E65E}" sibTransId="{526D0366-4B2D-4B4A-8451-E68E2BB23625}"/>
    <dgm:cxn modelId="{E98B42E5-BE33-4173-9D67-CA781C733463}" type="presOf" srcId="{27D57C02-43FA-4FA0-BDFE-019CA29C030F}" destId="{D060E826-CDF7-49BA-B6A6-86289AA35390}" srcOrd="0" destOrd="5" presId="urn:microsoft.com/office/officeart/2005/8/layout/list1"/>
    <dgm:cxn modelId="{C8793FF6-7DBA-4EEC-8A31-796B03CD9FB0}" type="presOf" srcId="{77F24BF8-7428-4A01-9E5D-A3ABC31EE463}" destId="{74921BDD-2C78-4B4B-B1F2-C152018E7F6C}" srcOrd="0" destOrd="5" presId="urn:microsoft.com/office/officeart/2005/8/layout/list1"/>
    <dgm:cxn modelId="{7B06FCF7-EA49-4282-B0A7-1896C546C1E8}" srcId="{61C3709F-9E40-46D4-B6C3-D25C2D5E7ACF}" destId="{BA75A775-C46E-499D-9EB2-4B968E5E4017}" srcOrd="2" destOrd="0" parTransId="{F0888A34-770B-4D6D-B734-EE927590CD06}" sibTransId="{C0E48262-3CE0-483C-BB02-E62EFD7B7816}"/>
    <dgm:cxn modelId="{DD9692FA-8589-44B8-A0CC-15FDEE444296}" type="presOf" srcId="{5F69F5B0-B5F4-43FE-B906-91837056E558}" destId="{7B89D7D9-E86F-4E17-8FAD-D12D1C055651}" srcOrd="1" destOrd="0" presId="urn:microsoft.com/office/officeart/2005/8/layout/list1"/>
    <dgm:cxn modelId="{E4A55AFB-A231-4ABE-A261-CDE3DB8EC3E0}" type="presOf" srcId="{48945432-9171-41AE-BCA6-14EDE046FA60}" destId="{1DAC65EC-050F-447D-BB91-CA33E510FB46}" srcOrd="1" destOrd="0" presId="urn:microsoft.com/office/officeart/2005/8/layout/list1"/>
    <dgm:cxn modelId="{3CA61AFE-B0B0-4596-B333-32C82A8BAA47}" srcId="{5F69F5B0-B5F4-43FE-B906-91837056E558}" destId="{66879BBF-E12B-43D7-8C3E-10E69E89049B}" srcOrd="0" destOrd="0" parTransId="{1B0DAB0E-91CF-486B-B3E8-0229DDD47DBA}" sibTransId="{B0443008-438F-427C-AA62-2DCFCDE096B9}"/>
    <dgm:cxn modelId="{25741BF1-A661-404D-8D42-0CED6EE7C443}" type="presParOf" srcId="{6EE44CF7-C95F-47F4-85E8-D517580E7CA2}" destId="{B56D2756-3EF1-437E-A3A7-05180EF7E9A8}" srcOrd="0" destOrd="0" presId="urn:microsoft.com/office/officeart/2005/8/layout/list1"/>
    <dgm:cxn modelId="{ACB5808A-5E47-4B31-B593-3B89FA2732A1}" type="presParOf" srcId="{B56D2756-3EF1-437E-A3A7-05180EF7E9A8}" destId="{A4180C13-6A09-42BC-8645-B41988011361}" srcOrd="0" destOrd="0" presId="urn:microsoft.com/office/officeart/2005/8/layout/list1"/>
    <dgm:cxn modelId="{FB042E91-523D-467E-AB14-3ADC83448C6C}" type="presParOf" srcId="{B56D2756-3EF1-437E-A3A7-05180EF7E9A8}" destId="{C78D8051-CBDC-4A04-8214-DC46474FCAD1}" srcOrd="1" destOrd="0" presId="urn:microsoft.com/office/officeart/2005/8/layout/list1"/>
    <dgm:cxn modelId="{979113F2-CDBE-41EF-8562-A7429CFBDF14}" type="presParOf" srcId="{6EE44CF7-C95F-47F4-85E8-D517580E7CA2}" destId="{478D5958-7891-4FF0-B81E-866A6169B3AC}" srcOrd="1" destOrd="0" presId="urn:microsoft.com/office/officeart/2005/8/layout/list1"/>
    <dgm:cxn modelId="{C8DFEDA4-A762-4BCD-B5FA-14B182A0BE50}" type="presParOf" srcId="{6EE44CF7-C95F-47F4-85E8-D517580E7CA2}" destId="{D060E826-CDF7-49BA-B6A6-86289AA35390}" srcOrd="2" destOrd="0" presId="urn:microsoft.com/office/officeart/2005/8/layout/list1"/>
    <dgm:cxn modelId="{2DADDFBD-6FFE-4784-B1F3-80FF725A4B42}" type="presParOf" srcId="{6EE44CF7-C95F-47F4-85E8-D517580E7CA2}" destId="{733D2C22-6E46-4261-B2D6-104886D35D28}" srcOrd="3" destOrd="0" presId="urn:microsoft.com/office/officeart/2005/8/layout/list1"/>
    <dgm:cxn modelId="{B181D5BB-60A1-40F9-AF5C-98E9D8CA28A9}" type="presParOf" srcId="{6EE44CF7-C95F-47F4-85E8-D517580E7CA2}" destId="{87C28D94-7DE5-447C-AAB1-72B6443AB7CC}" srcOrd="4" destOrd="0" presId="urn:microsoft.com/office/officeart/2005/8/layout/list1"/>
    <dgm:cxn modelId="{7F1A7156-7B98-4293-BA43-284F44098F18}" type="presParOf" srcId="{87C28D94-7DE5-447C-AAB1-72B6443AB7CC}" destId="{BED9C44F-2519-4396-A5C0-6C729C702949}" srcOrd="0" destOrd="0" presId="urn:microsoft.com/office/officeart/2005/8/layout/list1"/>
    <dgm:cxn modelId="{B253CBA0-1FAE-4A78-8FED-03D31DF22F3B}" type="presParOf" srcId="{87C28D94-7DE5-447C-AAB1-72B6443AB7CC}" destId="{7B89D7D9-E86F-4E17-8FAD-D12D1C055651}" srcOrd="1" destOrd="0" presId="urn:microsoft.com/office/officeart/2005/8/layout/list1"/>
    <dgm:cxn modelId="{0EF6EF51-FB6D-49CA-AB48-5428F49DF370}" type="presParOf" srcId="{6EE44CF7-C95F-47F4-85E8-D517580E7CA2}" destId="{075C4B58-788C-4E54-9EB7-01C444E41066}" srcOrd="5" destOrd="0" presId="urn:microsoft.com/office/officeart/2005/8/layout/list1"/>
    <dgm:cxn modelId="{8A4F9D14-AD23-4B68-9E86-5264E9869128}" type="presParOf" srcId="{6EE44CF7-C95F-47F4-85E8-D517580E7CA2}" destId="{2A3C460D-B0B4-44C5-A4F8-B60D3EAC15A2}" srcOrd="6" destOrd="0" presId="urn:microsoft.com/office/officeart/2005/8/layout/list1"/>
    <dgm:cxn modelId="{32520DA7-48B2-4334-8257-73B6FCA41049}" type="presParOf" srcId="{6EE44CF7-C95F-47F4-85E8-D517580E7CA2}" destId="{597C7360-8E1B-4FAF-A7E3-6A1B7591A009}" srcOrd="7" destOrd="0" presId="urn:microsoft.com/office/officeart/2005/8/layout/list1"/>
    <dgm:cxn modelId="{E4B44EA8-1064-4C8B-ACCC-E9A712088D91}" type="presParOf" srcId="{6EE44CF7-C95F-47F4-85E8-D517580E7CA2}" destId="{30CB012D-FF10-4533-AE1E-5DC46F257031}" srcOrd="8" destOrd="0" presId="urn:microsoft.com/office/officeart/2005/8/layout/list1"/>
    <dgm:cxn modelId="{08D93C39-9C5C-4AF3-AE66-445E7051B853}" type="presParOf" srcId="{30CB012D-FF10-4533-AE1E-5DC46F257031}" destId="{FC0261B5-1BE9-46C2-8835-F7B5E72ACA0E}" srcOrd="0" destOrd="0" presId="urn:microsoft.com/office/officeart/2005/8/layout/list1"/>
    <dgm:cxn modelId="{11912A9E-7EEA-41BC-A866-554E6463420A}" type="presParOf" srcId="{30CB012D-FF10-4533-AE1E-5DC46F257031}" destId="{1DAC65EC-050F-447D-BB91-CA33E510FB46}" srcOrd="1" destOrd="0" presId="urn:microsoft.com/office/officeart/2005/8/layout/list1"/>
    <dgm:cxn modelId="{AC23DC45-649C-4C92-B602-B16DE65E20D1}" type="presParOf" srcId="{6EE44CF7-C95F-47F4-85E8-D517580E7CA2}" destId="{49DC8EE9-CBD1-43B7-A713-88FEA2770046}" srcOrd="9" destOrd="0" presId="urn:microsoft.com/office/officeart/2005/8/layout/list1"/>
    <dgm:cxn modelId="{D8477550-2020-4B2A-AE5A-25251BB6F8F2}" type="presParOf" srcId="{6EE44CF7-C95F-47F4-85E8-D517580E7CA2}" destId="{74921BDD-2C78-4B4B-B1F2-C152018E7F6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0E826-CDF7-49BA-B6A6-86289AA35390}">
      <dsp:nvSpPr>
        <dsp:cNvPr id="0" name=""/>
        <dsp:cNvSpPr/>
      </dsp:nvSpPr>
      <dsp:spPr>
        <a:xfrm>
          <a:off x="0" y="255295"/>
          <a:ext cx="10788556" cy="1719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312" tIns="291592" rIns="83731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The library organization was facing data quality challenges in their CSV datasets due to: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Null and incomplete records  with duplication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Inconsistent formatting and Manual data cleansing effort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Increased operational overhead and delays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kern="1200" dirty="0"/>
            <a:t>The existing manual process was: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Time-consuming ,error-prone  and difficult to scale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Inefficient for recurring datasets</a:t>
          </a:r>
        </a:p>
      </dsp:txBody>
      <dsp:txXfrm>
        <a:off x="0" y="255295"/>
        <a:ext cx="10788556" cy="1719900"/>
      </dsp:txXfrm>
    </dsp:sp>
    <dsp:sp modelId="{C78D8051-CBDC-4A04-8214-DC46474FCAD1}">
      <dsp:nvSpPr>
        <dsp:cNvPr id="0" name=""/>
        <dsp:cNvSpPr/>
      </dsp:nvSpPr>
      <dsp:spPr>
        <a:xfrm>
          <a:off x="539427" y="48655"/>
          <a:ext cx="75519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447" tIns="0" rIns="28544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Requirements</a:t>
          </a:r>
        </a:p>
      </dsp:txBody>
      <dsp:txXfrm>
        <a:off x="559602" y="68830"/>
        <a:ext cx="7511639" cy="372930"/>
      </dsp:txXfrm>
    </dsp:sp>
    <dsp:sp modelId="{2A3C460D-B0B4-44C5-A4F8-B60D3EAC15A2}">
      <dsp:nvSpPr>
        <dsp:cNvPr id="0" name=""/>
        <dsp:cNvSpPr/>
      </dsp:nvSpPr>
      <dsp:spPr>
        <a:xfrm>
          <a:off x="0" y="2257435"/>
          <a:ext cx="10788556" cy="1719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312" tIns="291592" rIns="83731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1" kern="1200" dirty="0"/>
            <a:t>Azure Based Solution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Python-based automated data cleansing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/>
            <a:t>Validation and transformation logic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Automated clean CSV generation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/>
            <a:t>CI/CD-based deployment automation using DevOps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Dashboard reporting for monitoring data quality improvements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200" kern="1200" dirty="0"/>
            <a:t>Integration with Microsoft Power BI for visualization </a:t>
          </a:r>
        </a:p>
      </dsp:txBody>
      <dsp:txXfrm>
        <a:off x="0" y="2257435"/>
        <a:ext cx="10788556" cy="1719900"/>
      </dsp:txXfrm>
    </dsp:sp>
    <dsp:sp modelId="{7B89D7D9-E86F-4E17-8FAD-D12D1C055651}">
      <dsp:nvSpPr>
        <dsp:cNvPr id="0" name=""/>
        <dsp:cNvSpPr/>
      </dsp:nvSpPr>
      <dsp:spPr>
        <a:xfrm>
          <a:off x="539427" y="2050795"/>
          <a:ext cx="75519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447" tIns="0" rIns="28544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Solution</a:t>
          </a:r>
        </a:p>
      </dsp:txBody>
      <dsp:txXfrm>
        <a:off x="559602" y="2070970"/>
        <a:ext cx="7511639" cy="372930"/>
      </dsp:txXfrm>
    </dsp:sp>
    <dsp:sp modelId="{74921BDD-2C78-4B4B-B1F2-C152018E7F6C}">
      <dsp:nvSpPr>
        <dsp:cNvPr id="0" name=""/>
        <dsp:cNvSpPr/>
      </dsp:nvSpPr>
      <dsp:spPr>
        <a:xfrm>
          <a:off x="0" y="4259575"/>
          <a:ext cx="10788556" cy="154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7312" tIns="291592" rIns="837312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Reduced Manual Efforts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Improved Data Accuracy and consistency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Faster processing and Reporting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Repeatable and scalable workflow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Automated Deployment and  Maintenance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200" b="0" i="0" kern="1200" dirty="0"/>
            <a:t>Better visibility into Data metrics </a:t>
          </a:r>
        </a:p>
      </dsp:txBody>
      <dsp:txXfrm>
        <a:off x="0" y="4259575"/>
        <a:ext cx="10788556" cy="1543500"/>
      </dsp:txXfrm>
    </dsp:sp>
    <dsp:sp modelId="{1DAC65EC-050F-447D-BB91-CA33E510FB46}">
      <dsp:nvSpPr>
        <dsp:cNvPr id="0" name=""/>
        <dsp:cNvSpPr/>
      </dsp:nvSpPr>
      <dsp:spPr>
        <a:xfrm>
          <a:off x="539427" y="4052935"/>
          <a:ext cx="7551989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447" tIns="0" rIns="285447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Benefits</a:t>
          </a:r>
        </a:p>
      </dsp:txBody>
      <dsp:txXfrm>
        <a:off x="559602" y="4073110"/>
        <a:ext cx="7511639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6316-F91F-7658-B017-D8C4F00C6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8E6E6-1A24-5F71-6667-1D5C2979D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07796-7376-F458-5FD3-320247A4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485B8-F387-3757-83C6-D3186EAB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70499-91E6-4B61-2556-14B68563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E8FE-F31B-4B8A-32E1-55D271F0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193C-32EC-A1FF-EF65-2DD5DE1DE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D8933-9482-0B19-6222-7FF518F2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89044-2B8C-EC87-5752-A571A3A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EA8A2-93B6-16AB-7372-3304CB35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7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0B4C5-50C4-83A9-67D2-2FEAED122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2B8F1-FF68-E68E-D614-BDF314365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27EBE-72BC-F229-8EBB-C5830AE6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4413E-ED65-14A2-BD2D-A516AB2D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2C807-D4D5-C6EF-7FD4-E3CB7E6E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6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AA63D-0E35-6819-00AB-85BADAE1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FC56-BBCA-6D48-FFDC-CEC64AC31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2B1F9-8F20-720A-8E81-10670024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977B4-E294-EB2E-D450-2FA07784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AF997-DFFE-A761-C4A0-04268F91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A5CBA-4B5D-76F8-F6A8-6C6C8D47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6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A467-7438-FC1A-3904-B3FB6D76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5B2A1-D692-F567-B3BC-4285D5097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B8474-2A98-5BC0-83C7-DC783B407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5CE58-F990-F00B-D130-1FCD113DB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A81704-35CB-A393-4F64-761263088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FF257-8452-E881-135B-B84B197C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CEDFC1-9771-B858-E2E1-F324D65C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6744F-644C-653A-6725-961D786C7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1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EB40-D73D-AF77-2938-9587790F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21F29-288D-F78F-2145-915D9AB4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FD690-597A-09F2-029B-4E6E8A83A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02F26-1C76-8B88-6158-9EEB4856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9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3F17F-29E0-5CF3-7AA7-10719CE8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CFF6CF-B909-13F3-B86C-4DF85C38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E6565-34A1-1D1C-F6ED-264E1887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7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D7201-7275-8C94-C58F-2143246E0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A11D-AE60-86D8-855B-45861F96A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A4F42-0CB8-AE3B-5B7F-390B04A6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F12DD-1C9B-05FC-48B2-C123944D9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86A3-3E39-3F4C-F96F-21A7B51E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B5892-A6B8-5186-5AB0-0AA532A6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1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7780-BCD5-758F-D7D3-D3FF31D8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910CB-8FE4-11F8-D314-E607EDFB4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59A6C-2FD3-5518-CC90-9084658D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350AF-8551-D5C6-815E-2AB49AA2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065C3-0899-77C0-797B-F2D30B25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0AFB7-93D9-6D72-53C5-46733F8D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176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6213-2761-0564-6DDE-5DCA0BE3D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366F8-7405-314A-99E4-2D5BF5C56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20435-B93C-A86B-2F1A-A7826C0F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B5816-11D8-00AD-5258-855C29B3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12801-058F-995D-B816-81636C9D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25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70DFE-AF97-ADA2-40DC-041C6B487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4B382-B73B-EDC7-3584-9819F2FD4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92B68-6357-8663-3821-8D146B1A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E4900-432B-100C-3FD6-DA9932E1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12684-3528-28B9-7E3E-A3F48919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9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91CFC-2ED7-23AD-1C87-A3A19563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1B1C1-C970-6DD9-6347-6AD76BA3D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60710-599A-DE22-7B2B-B7DD8510E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055AE-D7FC-4CD4-59CC-E7FEE5728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5929-94B5-55C8-426B-B1B50DAB1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24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E0E37-7D51-3093-B5C2-AE004141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072A0A-311D-86DA-B408-0DA03E8C212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D5FF159-4E94-5041-0304-581251AA67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1389355"/>
              </p:ext>
            </p:extLst>
          </p:nvPr>
        </p:nvGraphicFramePr>
        <p:xfrm>
          <a:off x="266131" y="719666"/>
          <a:ext cx="10788556" cy="5851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3B805A-7AE3-CE82-EF6C-65E16906E2F9}"/>
              </a:ext>
            </a:extLst>
          </p:cNvPr>
          <p:cNvSpPr txBox="1"/>
          <p:nvPr/>
        </p:nvSpPr>
        <p:spPr>
          <a:xfrm>
            <a:off x="357809" y="230588"/>
            <a:ext cx="721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Requirements and 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439603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B9E318-8174-431D-94F1-68BD7B8E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DCDF84-6EAE-F553-4EA0-FFB5BDE715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7EF25-5294-125B-F09F-EA3B7346299C}"/>
              </a:ext>
            </a:extLst>
          </p:cNvPr>
          <p:cNvSpPr txBox="1"/>
          <p:nvPr/>
        </p:nvSpPr>
        <p:spPr>
          <a:xfrm>
            <a:off x="357809" y="230588"/>
            <a:ext cx="721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Architecture Diagram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D0C5D8-1027-99E5-96B8-A928192F99FA}"/>
              </a:ext>
            </a:extLst>
          </p:cNvPr>
          <p:cNvSpPr/>
          <p:nvPr/>
        </p:nvSpPr>
        <p:spPr>
          <a:xfrm>
            <a:off x="572494" y="792759"/>
            <a:ext cx="2099144" cy="10734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Source Library Data (Raw CSVs) |</a:t>
            </a:r>
            <a:br>
              <a:rPr lang="en-GB" sz="1200" dirty="0"/>
            </a:br>
            <a:r>
              <a:rPr lang="en-GB" sz="1200" dirty="0"/>
              <a:t>| (Azure Blob Storage - Raw Container)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239DE1-2758-FA4D-CD38-65C6951BF7CD}"/>
              </a:ext>
            </a:extLst>
          </p:cNvPr>
          <p:cNvSpPr/>
          <p:nvPr/>
        </p:nvSpPr>
        <p:spPr>
          <a:xfrm>
            <a:off x="4436612" y="830498"/>
            <a:ext cx="2099144" cy="10734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Python ETL Processing Layer </a:t>
            </a:r>
          </a:p>
          <a:p>
            <a:pPr algn="ctr"/>
            <a:r>
              <a:rPr lang="en-GB" sz="1200" dirty="0"/>
              <a:t>Python scripts for data cleaning  (Triggered via Azure Automation / Scheduled Run)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7C2EE6-DD12-FF30-49AF-838AC1431C6F}"/>
              </a:ext>
            </a:extLst>
          </p:cNvPr>
          <p:cNvSpPr/>
          <p:nvPr/>
        </p:nvSpPr>
        <p:spPr>
          <a:xfrm>
            <a:off x="8300730" y="792759"/>
            <a:ext cx="2099144" cy="10734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/>
              <a:t>CI/CD Automation Layer (DevOps) </a:t>
            </a:r>
          </a:p>
          <a:p>
            <a:pPr algn="ctr"/>
            <a:r>
              <a:rPr lang="fr-FR" sz="1200" dirty="0"/>
              <a:t>Azure DevOps Repos (Source Code Management) 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A08331-6B89-58F4-93EF-423693EAA433}"/>
              </a:ext>
            </a:extLst>
          </p:cNvPr>
          <p:cNvSpPr/>
          <p:nvPr/>
        </p:nvSpPr>
        <p:spPr>
          <a:xfrm>
            <a:off x="8410858" y="5015947"/>
            <a:ext cx="2099144" cy="10734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Power BI Reporting &amp; Dashboard Layer Scheduled Run)</a:t>
            </a:r>
          </a:p>
          <a:p>
            <a:pPr algn="ctr"/>
            <a:r>
              <a:rPr lang="en-GB" sz="1200" dirty="0"/>
              <a:t>Microsoft Power BI with connection to Azure blob</a:t>
            </a:r>
            <a:br>
              <a:rPr lang="en-GB" sz="1200" dirty="0"/>
            </a:br>
            <a:r>
              <a:rPr lang="en-GB" sz="1200" dirty="0"/>
              <a:t>|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58CB99-31DD-A671-6961-4F38741F5DD2}"/>
              </a:ext>
            </a:extLst>
          </p:cNvPr>
          <p:cNvSpPr/>
          <p:nvPr/>
        </p:nvSpPr>
        <p:spPr>
          <a:xfrm>
            <a:off x="8410858" y="2904353"/>
            <a:ext cx="2099144" cy="107342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Cleaned Data Storage Layer</a:t>
            </a:r>
          </a:p>
          <a:p>
            <a:pPr algn="ctr"/>
            <a:r>
              <a:rPr lang="en-GB" sz="1200" dirty="0"/>
              <a:t>Azure Blob Storage (Clean Container)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D54783-6010-CDAD-2D7E-238619EEC0B4}"/>
              </a:ext>
            </a:extLst>
          </p:cNvPr>
          <p:cNvCxnSpPr/>
          <p:nvPr/>
        </p:nvCxnSpPr>
        <p:spPr>
          <a:xfrm>
            <a:off x="2729132" y="132947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64DF3D-3E33-CBA3-E56C-2A16DF617D98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720875" y="1367211"/>
            <a:ext cx="17157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0794FD-67D4-BA56-E6E9-27BD8BD7C8BA}"/>
              </a:ext>
            </a:extLst>
          </p:cNvPr>
          <p:cNvCxnSpPr>
            <a:cxnSpLocks/>
          </p:cNvCxnSpPr>
          <p:nvPr/>
        </p:nvCxnSpPr>
        <p:spPr>
          <a:xfrm>
            <a:off x="6535756" y="1346410"/>
            <a:ext cx="171573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CF4BB77-D63A-33B1-60F4-27DC8457D821}"/>
              </a:ext>
            </a:extLst>
          </p:cNvPr>
          <p:cNvCxnSpPr>
            <a:cxnSpLocks/>
          </p:cNvCxnSpPr>
          <p:nvPr/>
        </p:nvCxnSpPr>
        <p:spPr>
          <a:xfrm>
            <a:off x="9350302" y="1903924"/>
            <a:ext cx="0" cy="1000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85B6EF-0607-6554-4ED3-66EC307402F7}"/>
              </a:ext>
            </a:extLst>
          </p:cNvPr>
          <p:cNvCxnSpPr>
            <a:cxnSpLocks/>
          </p:cNvCxnSpPr>
          <p:nvPr/>
        </p:nvCxnSpPr>
        <p:spPr>
          <a:xfrm>
            <a:off x="9392481" y="4015518"/>
            <a:ext cx="0" cy="1000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51D25F0-A824-9F5D-FA5A-CD24F8D82AF6}"/>
              </a:ext>
            </a:extLst>
          </p:cNvPr>
          <p:cNvSpPr txBox="1"/>
          <p:nvPr/>
        </p:nvSpPr>
        <p:spPr>
          <a:xfrm>
            <a:off x="797075" y="2504502"/>
            <a:ext cx="5795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Highlights of this Architecture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Fully cloud-native and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Event-driven automation 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CI/CD ensures reliable 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Separation of storage, compute,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Enterprise-grade observability and monitoring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7754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391BA-2771-58CF-87A1-FC10D1B8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D19062-5F6B-E8DE-7904-558D78565B0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C836AE-7B63-7A5D-CFAA-A61F0BE6F5C4}"/>
              </a:ext>
            </a:extLst>
          </p:cNvPr>
          <p:cNvSpPr txBox="1"/>
          <p:nvPr/>
        </p:nvSpPr>
        <p:spPr>
          <a:xfrm>
            <a:off x="357809" y="230588"/>
            <a:ext cx="721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BI Metrics Dashboard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A7F8AF-6C1E-8B56-EBCD-BA6EBB35DB3B}"/>
              </a:ext>
            </a:extLst>
          </p:cNvPr>
          <p:cNvCxnSpPr/>
          <p:nvPr/>
        </p:nvCxnSpPr>
        <p:spPr>
          <a:xfrm>
            <a:off x="2729132" y="132947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07ED8E3-A486-3505-4DC6-644032500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34" y="3783942"/>
            <a:ext cx="5048471" cy="22002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0D1F40-DCE5-D884-4EAF-76DA194DA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83" y="3712380"/>
            <a:ext cx="4644362" cy="2326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66174C-6C3B-260D-178C-8046B207436A}"/>
              </a:ext>
            </a:extLst>
          </p:cNvPr>
          <p:cNvSpPr txBox="1"/>
          <p:nvPr/>
        </p:nvSpPr>
        <p:spPr>
          <a:xfrm>
            <a:off x="634620" y="1155849"/>
            <a:ext cx="32208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Dashboard Sections</a:t>
            </a:r>
          </a:p>
          <a:p>
            <a:r>
              <a:rPr lang="en-GB" b="1" dirty="0"/>
              <a:t>Dataset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Total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Total Columns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Processed Files </a:t>
            </a:r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B89B6-B859-0C02-4216-AE82FD4FABFB}"/>
              </a:ext>
            </a:extLst>
          </p:cNvPr>
          <p:cNvSpPr txBox="1"/>
          <p:nvPr/>
        </p:nvSpPr>
        <p:spPr>
          <a:xfrm>
            <a:off x="4106106" y="1102874"/>
            <a:ext cx="32208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Dashboard Sections</a:t>
            </a:r>
          </a:p>
          <a:p>
            <a:r>
              <a:rPr lang="en-GB" b="1" dirty="0"/>
              <a:t>Dataset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Total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Total Columns </a:t>
            </a:r>
          </a:p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D61080-B666-4C94-E083-8198B7F76B5A}"/>
              </a:ext>
            </a:extLst>
          </p:cNvPr>
          <p:cNvSpPr txBox="1"/>
          <p:nvPr/>
        </p:nvSpPr>
        <p:spPr>
          <a:xfrm>
            <a:off x="7577593" y="1022161"/>
            <a:ext cx="32208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Dashboard Sections</a:t>
            </a:r>
          </a:p>
          <a:p>
            <a:r>
              <a:rPr lang="en-GB" b="1" dirty="0"/>
              <a:t>Dataset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Null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Duplicate Reduction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</a:t>
            </a:r>
            <a:r>
              <a:rPr lang="en-GB" dirty="0" err="1"/>
              <a:t>Accurancy</a:t>
            </a:r>
            <a:r>
              <a:rPr lang="en-GB" dirty="0"/>
              <a:t> Improvement</a:t>
            </a:r>
          </a:p>
          <a:p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814E39-53AC-48EE-8DFF-369E61B73366}"/>
              </a:ext>
            </a:extLst>
          </p:cNvPr>
          <p:cNvSpPr txBox="1"/>
          <p:nvPr/>
        </p:nvSpPr>
        <p:spPr>
          <a:xfrm>
            <a:off x="2316322" y="6094197"/>
            <a:ext cx="330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Dataset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6595BE-68F6-CCE7-667B-41B8BAF5EE70}"/>
              </a:ext>
            </a:extLst>
          </p:cNvPr>
          <p:cNvSpPr txBox="1"/>
          <p:nvPr/>
        </p:nvSpPr>
        <p:spPr>
          <a:xfrm>
            <a:off x="7673829" y="6165946"/>
            <a:ext cx="246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Dataset 2</a:t>
            </a:r>
          </a:p>
        </p:txBody>
      </p:sp>
    </p:spTree>
    <p:extLst>
      <p:ext uri="{BB962C8B-B14F-4D97-AF65-F5344CB8AC3E}">
        <p14:creationId xmlns:p14="http://schemas.microsoft.com/office/powerpoint/2010/main" val="1971868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FC9AC-B2B2-8EAB-4123-8986DAAA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6A81BC-1A16-2FD2-367C-BCA23F91F0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D9D00C-26B5-AA11-E3AF-77279668161F}"/>
              </a:ext>
            </a:extLst>
          </p:cNvPr>
          <p:cNvSpPr txBox="1"/>
          <p:nvPr/>
        </p:nvSpPr>
        <p:spPr>
          <a:xfrm>
            <a:off x="357809" y="230588"/>
            <a:ext cx="7219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Risk and SWOT 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27EC95-C2F1-B148-346B-F398090863BC}"/>
              </a:ext>
            </a:extLst>
          </p:cNvPr>
          <p:cNvCxnSpPr/>
          <p:nvPr/>
        </p:nvCxnSpPr>
        <p:spPr>
          <a:xfrm>
            <a:off x="2729132" y="1329472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EEA7BED-496C-38AD-C7C8-3DDCB67B4534}"/>
              </a:ext>
            </a:extLst>
          </p:cNvPr>
          <p:cNvSpPr txBox="1"/>
          <p:nvPr/>
        </p:nvSpPr>
        <p:spPr>
          <a:xfrm>
            <a:off x="634620" y="1155849"/>
            <a:ext cx="32208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Technical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Unexpected data format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Incomplete validation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Dependency failures in automated pipelines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2B510-0432-56BD-3234-057FBD747333}"/>
              </a:ext>
            </a:extLst>
          </p:cNvPr>
          <p:cNvSpPr txBox="1"/>
          <p:nvPr/>
        </p:nvSpPr>
        <p:spPr>
          <a:xfrm>
            <a:off x="4106106" y="1102874"/>
            <a:ext cx="3220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Operational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Incorrect cleansing rules affecting valid data</a:t>
            </a:r>
          </a:p>
          <a:p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FFCFC-EC85-6161-26B8-2A4DE6D3FCBB}"/>
              </a:ext>
            </a:extLst>
          </p:cNvPr>
          <p:cNvSpPr txBox="1"/>
          <p:nvPr/>
        </p:nvSpPr>
        <p:spPr>
          <a:xfrm>
            <a:off x="7577593" y="1022161"/>
            <a:ext cx="39358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Dashboard Sections</a:t>
            </a:r>
          </a:p>
          <a:p>
            <a:r>
              <a:rPr lang="en-GB" b="1" dirty="0"/>
              <a:t>Dataset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Validation checkpoints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Logging and exception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Version-controlled deployments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Testing in lower environments before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9C36BB-81AE-B285-6D9A-CAB627F59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88823"/>
              </p:ext>
            </p:extLst>
          </p:nvPr>
        </p:nvGraphicFramePr>
        <p:xfrm>
          <a:off x="421564" y="3400726"/>
          <a:ext cx="10571708" cy="2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927">
                  <a:extLst>
                    <a:ext uri="{9D8B030D-6E8A-4147-A177-3AD203B41FA5}">
                      <a16:colId xmlns:a16="http://schemas.microsoft.com/office/drawing/2014/main" val="536752201"/>
                    </a:ext>
                  </a:extLst>
                </a:gridCol>
                <a:gridCol w="2642927">
                  <a:extLst>
                    <a:ext uri="{9D8B030D-6E8A-4147-A177-3AD203B41FA5}">
                      <a16:colId xmlns:a16="http://schemas.microsoft.com/office/drawing/2014/main" val="2848720787"/>
                    </a:ext>
                  </a:extLst>
                </a:gridCol>
                <a:gridCol w="2642927">
                  <a:extLst>
                    <a:ext uri="{9D8B030D-6E8A-4147-A177-3AD203B41FA5}">
                      <a16:colId xmlns:a16="http://schemas.microsoft.com/office/drawing/2014/main" val="2628278352"/>
                    </a:ext>
                  </a:extLst>
                </a:gridCol>
                <a:gridCol w="2642927">
                  <a:extLst>
                    <a:ext uri="{9D8B030D-6E8A-4147-A177-3AD203B41FA5}">
                      <a16:colId xmlns:a16="http://schemas.microsoft.com/office/drawing/2014/main" val="1434339145"/>
                    </a:ext>
                  </a:extLst>
                </a:gridCol>
              </a:tblGrid>
              <a:tr h="514594">
                <a:tc>
                  <a:txBody>
                    <a:bodyPr/>
                    <a:lstStyle/>
                    <a:p>
                      <a:r>
                        <a:rPr lang="en-GB" dirty="0"/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Threats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973827"/>
                  </a:ext>
                </a:extLst>
              </a:tr>
              <a:tr h="514594">
                <a:tc>
                  <a:txBody>
                    <a:bodyPr/>
                    <a:lstStyle/>
                    <a:p>
                      <a:r>
                        <a:rPr lang="en-GB" dirty="0"/>
                        <a:t>Automated data cleansing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Dependent on predefined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Expand to real-time ingestion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Operational dependency on automation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608281"/>
                  </a:ext>
                </a:extLst>
              </a:tr>
              <a:tr h="514594">
                <a:tc>
                  <a:txBody>
                    <a:bodyPr/>
                    <a:lstStyle/>
                    <a:p>
                      <a:r>
                        <a:rPr lang="en-GB" dirty="0"/>
                        <a:t>Reduced manual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Initial setup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Integration with databases/cloud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governance compliance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55761"/>
                  </a:ext>
                </a:extLst>
              </a:tr>
              <a:tr h="514594">
                <a:tc>
                  <a:txBody>
                    <a:bodyPr/>
                    <a:lstStyle/>
                    <a:p>
                      <a:r>
                        <a:rPr lang="en-GB" dirty="0"/>
                        <a:t>Improved 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Pipeline failures impacting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Advanced analytics &amp; AI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Rapid changes in source data formats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93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27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364</Words>
  <Application>Microsoft Office PowerPoint</Application>
  <PresentationFormat>Widescreen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Correla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Kumar</dc:creator>
  <cp:lastModifiedBy>Gaurav Kumar</cp:lastModifiedBy>
  <cp:revision>2</cp:revision>
  <dcterms:created xsi:type="dcterms:W3CDTF">2026-05-08T13:06:44Z</dcterms:created>
  <dcterms:modified xsi:type="dcterms:W3CDTF">2026-05-08T14:11:34Z</dcterms:modified>
</cp:coreProperties>
</file>